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14fc0f5f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a914fc0f5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a6a202f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a6a202f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6a202f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a6a202f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14fc0f5f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a914fc0f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437f89c66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9437f89c6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437f89c6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437f89c6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437f89c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437f89c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6339ad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96339ad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313259" y="457201"/>
            <a:ext cx="6507167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13259" y="2914650"/>
            <a:ext cx="6507167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315"/>
              </a:spcBef>
              <a:spcAft>
                <a:spcPts val="0"/>
              </a:spcAft>
              <a:buSzPts val="1575"/>
              <a:buNone/>
              <a:defRPr sz="1575">
                <a:solidFill>
                  <a:schemeClr val="lt1"/>
                </a:solidFill>
              </a:defRPr>
            </a:lvl1pPr>
            <a:lvl2pPr lvl="1" algn="ctr">
              <a:spcBef>
                <a:spcPts val="450"/>
              </a:spcBef>
              <a:spcAft>
                <a:spcPts val="0"/>
              </a:spcAft>
              <a:buSzPts val="135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5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50"/>
              </a:spcBef>
              <a:spcAft>
                <a:spcPts val="0"/>
              </a:spcAft>
              <a:buSzPts val="105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50"/>
              </a:spcBef>
              <a:spcAft>
                <a:spcPts val="0"/>
              </a:spcAft>
              <a:buSzPts val="105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45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450"/>
              </a:spcBef>
              <a:spcAft>
                <a:spcPts val="450"/>
              </a:spcAft>
              <a:buSzPts val="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13260" y="2481436"/>
            <a:ext cx="65151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13259" y="3583036"/>
            <a:ext cx="65151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56059" y="2000250"/>
            <a:ext cx="3657600" cy="2343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indent="-304800" lvl="1" marL="914400" algn="l"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295275" lvl="2" marL="13716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indent="-285750" lvl="3" marL="18288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indent="-285750" lvl="4" marL="22860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7959" y="2000250"/>
            <a:ext cx="36576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indent="-304800" lvl="1" marL="914400" algn="l"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295275" lvl="2" marL="13716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indent="-285750" lvl="3" marL="18288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indent="-285750" lvl="4" marL="22860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071961" y="1993900"/>
            <a:ext cx="3441698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SzPts val="2100"/>
              <a:buNone/>
              <a:defRPr b="0" sz="21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56059" y="2432447"/>
            <a:ext cx="3657600" cy="19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indent="-304800" lvl="1" marL="914400" algn="l"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295275" lvl="2" marL="13716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indent="-285750" lvl="3" marL="18288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indent="-285750" lvl="4" marL="22860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832350" y="2000250"/>
            <a:ext cx="3453210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SzPts val="2100"/>
              <a:buNone/>
              <a:defRPr b="0" sz="21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7959" y="2432447"/>
            <a:ext cx="3657601" cy="1910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1pPr>
            <a:lvl2pPr indent="-304800" lvl="1" marL="914400" algn="l"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295275" lvl="2" marL="13716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3pPr>
            <a:lvl4pPr indent="-285750" lvl="3" marL="18288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4pPr>
            <a:lvl5pPr indent="-285750" lvl="4" marL="22860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 algn="l">
              <a:spcBef>
                <a:spcPts val="45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 algn="l">
              <a:spcBef>
                <a:spcPts val="450"/>
              </a:spcBef>
              <a:spcAft>
                <a:spcPts val="45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56059" y="1200150"/>
            <a:ext cx="266184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827859" y="457201"/>
            <a:ext cx="4457701" cy="3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4325" lvl="1" marL="914400" algn="l">
              <a:spcBef>
                <a:spcPts val="450"/>
              </a:spcBef>
              <a:spcAft>
                <a:spcPts val="0"/>
              </a:spcAft>
              <a:buSzPts val="1350"/>
              <a:buChar char="•"/>
              <a:defRPr sz="1350"/>
            </a:lvl2pPr>
            <a:lvl3pPr indent="-304800" lvl="2" marL="1371600" algn="l">
              <a:spcBef>
                <a:spcPts val="45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5275" lvl="3" marL="18288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4pPr>
            <a:lvl5pPr indent="-295275" lvl="4" marL="22860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5pPr>
            <a:lvl6pPr indent="-295275" lvl="5" marL="27432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6pPr>
            <a:lvl7pPr indent="-295275" lvl="6" marL="32004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7pPr>
            <a:lvl8pPr indent="-295275" lvl="7" marL="3657600" algn="l">
              <a:spcBef>
                <a:spcPts val="450"/>
              </a:spcBef>
              <a:spcAft>
                <a:spcPts val="0"/>
              </a:spcAft>
              <a:buSzPts val="1050"/>
              <a:buChar char="•"/>
              <a:defRPr sz="1050"/>
            </a:lvl8pPr>
            <a:lvl9pPr indent="-295275" lvl="8" marL="4114800" algn="l">
              <a:spcBef>
                <a:spcPts val="450"/>
              </a:spcBef>
              <a:spcAft>
                <a:spcPts val="450"/>
              </a:spcAft>
              <a:buSzPts val="1050"/>
              <a:buChar char="•"/>
              <a:defRPr sz="105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56059" y="2228850"/>
            <a:ext cx="266184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56059" y="1200150"/>
            <a:ext cx="40005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b="0"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575300" y="-13716"/>
            <a:ext cx="2457449" cy="517779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56059" y="2228850"/>
            <a:ext cx="400050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99409" y="4412457"/>
            <a:ext cx="685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856059" y="4412457"/>
            <a:ext cx="38290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056960" y="4412457"/>
            <a:ext cx="2419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56060" y="3549649"/>
            <a:ext cx="7429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/>
          <p:nvPr>
            <p:ph idx="2" type="pic"/>
          </p:nvPr>
        </p:nvSpPr>
        <p:spPr>
          <a:xfrm>
            <a:off x="1484709" y="699084"/>
            <a:ext cx="6169458" cy="2373732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856060" y="3974702"/>
            <a:ext cx="7429500" cy="370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856060" y="457201"/>
            <a:ext cx="7429499" cy="234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b="0" lang="en-US" sz="6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b="0" lang="en-US" sz="6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1084660" y="457201"/>
            <a:ext cx="6972299" cy="2057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1256109" y="2514600"/>
            <a:ext cx="66294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Font typeface="Century Gothic"/>
              <a:buNone/>
              <a:defRPr/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50"/>
              <a:buFont typeface="Century Gothic"/>
              <a:buNone/>
              <a:defRPr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00"/>
              <a:buFont typeface="Century Gothic"/>
              <a:buNone/>
              <a:defRPr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050"/>
              <a:buFont typeface="Century Gothic"/>
              <a:buNone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body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856059" y="2481436"/>
            <a:ext cx="74295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856058" y="3583036"/>
            <a:ext cx="7429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b="0" lang="en-US" sz="6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b="0" lang="en-US" sz="6000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1084660" y="457201"/>
            <a:ext cx="6972299" cy="2057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56059" y="2914650"/>
            <a:ext cx="7429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2" type="body"/>
          </p:nvPr>
        </p:nvSpPr>
        <p:spPr>
          <a:xfrm>
            <a:off x="856058" y="3581400"/>
            <a:ext cx="7429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856060" y="457201"/>
            <a:ext cx="7429499" cy="2057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856059" y="2628900"/>
            <a:ext cx="7429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SzPts val="2100"/>
              <a:buNone/>
              <a:defRPr b="0" sz="2100" cap="none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2" type="body"/>
          </p:nvPr>
        </p:nvSpPr>
        <p:spPr>
          <a:xfrm>
            <a:off x="856058" y="3257550"/>
            <a:ext cx="74295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450"/>
              </a:spcBef>
              <a:spcAft>
                <a:spcPts val="0"/>
              </a:spcAft>
              <a:buSzPts val="1050"/>
              <a:buNone/>
              <a:defRPr sz="105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450"/>
              </a:spcBef>
              <a:spcAft>
                <a:spcPts val="450"/>
              </a:spcAft>
              <a:buSzPts val="1050"/>
              <a:buNone/>
              <a:defRPr sz="10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 rot="5400000">
            <a:off x="3399234" y="-542924"/>
            <a:ext cx="2343151" cy="7429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 rot="5400000">
            <a:off x="5513516" y="1571358"/>
            <a:ext cx="3886201" cy="165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 rot="5400000">
            <a:off x="1741884" y="-428625"/>
            <a:ext cx="3886200" cy="56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4325" lvl="1" marL="9144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4800" lvl="2" marL="13716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5275" lvl="3" marL="18288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•"/>
              <a:defRPr b="0" i="0" sz="105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5275" lvl="4" marL="22860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•"/>
              <a:defRPr b="0" i="0" sz="105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b="0" i="0" sz="9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b="0" i="0" sz="9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  <a:defRPr b="0" i="0" sz="9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spcBef>
                <a:spcPts val="450"/>
              </a:spcBef>
              <a:spcAft>
                <a:spcPts val="450"/>
              </a:spcAft>
              <a:buClr>
                <a:schemeClr val="lt1"/>
              </a:buClr>
              <a:buSzPts val="900"/>
              <a:buFont typeface="Arial"/>
              <a:buChar char="•"/>
              <a:defRPr b="0" i="0" sz="900" u="none" cap="small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675"/>
              <a:buFont typeface="Century Gothic"/>
              <a:buNone/>
              <a:defRPr b="1" i="0" sz="675" u="none" cap="none" strike="noStrike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imVPmWud1PU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ctrTitle"/>
          </p:nvPr>
        </p:nvSpPr>
        <p:spPr>
          <a:xfrm>
            <a:off x="311700" y="744575"/>
            <a:ext cx="85206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lang="en-US"/>
              <a:t>MILESTONE 4 PROGRESS</a:t>
            </a:r>
            <a:endParaRPr b="1"/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239125" y="2571750"/>
            <a:ext cx="8520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Group: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 Nicolas Rincon-Speranza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Lawson Darrow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Nikiraj Konwar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Christian Stevens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Advisor: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238"/>
              <a:buNone/>
            </a:pPr>
            <a:r>
              <a:rPr lang="en-US"/>
              <a:t>Dr. Zahra Nematzadeh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2311500" y="433150"/>
            <a:ext cx="4521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Milestone 4 Task Matrix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950" y="1082962"/>
            <a:ext cx="5762099" cy="356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56825" y="445025"/>
            <a:ext cx="619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Model Logic &amp; Data Strategy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904350" y="1017725"/>
            <a:ext cx="6836700" cy="37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76"/>
              <a:buFont typeface="Arial"/>
              <a:buNone/>
            </a:pPr>
            <a:r>
              <a:rPr b="1" lang="en-US" sz="2744" cap="none">
                <a:latin typeface="Times New Roman"/>
                <a:ea typeface="Times New Roman"/>
                <a:cs typeface="Times New Roman"/>
                <a:sym typeface="Times New Roman"/>
              </a:rPr>
              <a:t>Dataset &amp; Experimental Design</a:t>
            </a:r>
            <a:endParaRPr b="1" sz="27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Binary classification: Benign (0) vs Malignant (1)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Stratified 80/20 split to preserve class distribution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Stratified 10-Fold Cross Validation on training set for robust evaluation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76"/>
              <a:buFont typeface="Arial"/>
              <a:buNone/>
            </a:pPr>
            <a:r>
              <a:rPr b="1" lang="en-US" sz="2744" cap="none">
                <a:latin typeface="Times New Roman"/>
                <a:ea typeface="Times New Roman"/>
                <a:cs typeface="Times New Roman"/>
                <a:sym typeface="Times New Roman"/>
              </a:rPr>
              <a:t>Class Imbalance Handling</a:t>
            </a:r>
            <a:endParaRPr b="1" sz="27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Two data streams (benign / malignant)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Weighted sampling to oversample malignant class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Improves minority-class sensitivity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76"/>
              <a:buFont typeface="Arial"/>
              <a:buNone/>
            </a:pPr>
            <a:r>
              <a:rPr b="1" lang="en-US" sz="2744" cap="none">
                <a:latin typeface="Times New Roman"/>
                <a:ea typeface="Times New Roman"/>
                <a:cs typeface="Times New Roman"/>
                <a:sym typeface="Times New Roman"/>
              </a:rPr>
              <a:t>Augmentation &amp; Regularization</a:t>
            </a:r>
            <a:endParaRPr b="1" sz="27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Mild photometric augmentation (class-conditional)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No unrealistic geometric distortions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4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2544" cap="none">
                <a:latin typeface="Times New Roman"/>
                <a:ea typeface="Times New Roman"/>
                <a:cs typeface="Times New Roman"/>
                <a:sym typeface="Times New Roman"/>
              </a:rPr>
              <a:t>Optional MixUp for smoother decision boundary and better generalization</a:t>
            </a:r>
            <a:endParaRPr sz="2544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456825" y="396650"/>
            <a:ext cx="733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Architecture &amp; Training Strategy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940650" y="969350"/>
            <a:ext cx="57723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1120"/>
              <a:buFont typeface="Arial"/>
              <a:buNone/>
            </a:pPr>
            <a:r>
              <a:rPr b="1" lang="en-US" sz="1546" cap="none"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endParaRPr b="1" sz="15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EfficientNetB0 (ImageNet pretrained)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Global Average Pooling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Dense(512) + BatchNorm + Dropout(0.3)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Sigmoid output (binary probability)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1120"/>
              <a:buFont typeface="Arial"/>
              <a:buNone/>
            </a:pPr>
            <a:r>
              <a:rPr b="1" lang="en-US" sz="1546" cap="none">
                <a:latin typeface="Times New Roman"/>
                <a:ea typeface="Times New Roman"/>
                <a:cs typeface="Times New Roman"/>
                <a:sym typeface="Times New Roman"/>
              </a:rPr>
              <a:t>Two-Phase Transfer Learning</a:t>
            </a:r>
            <a:endParaRPr b="1" sz="15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Phase 1: Frozen backbone (LR = 1e-3)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Phase 2: Fine-tuning (LR = 1e-4)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1120"/>
              <a:buFont typeface="Arial"/>
              <a:buNone/>
            </a:pPr>
            <a:r>
              <a:rPr b="1" lang="en-US" sz="1546" cap="none">
                <a:latin typeface="Times New Roman"/>
                <a:ea typeface="Times New Roman"/>
                <a:cs typeface="Times New Roman"/>
                <a:sym typeface="Times New Roman"/>
              </a:rPr>
              <a:t>Optimization &amp; Evaluation</a:t>
            </a:r>
            <a:endParaRPr b="1" sz="15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AdamW + weight decay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Label smoothing (0.1)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ReduceLROnPlateau + EarlyStopping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Threshold selected via best F1 (validation)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Char char="●"/>
            </a:pPr>
            <a:r>
              <a:rPr b="1" lang="en-US" sz="1346" cap="none">
                <a:latin typeface="Times New Roman"/>
                <a:ea typeface="Times New Roman"/>
                <a:cs typeface="Times New Roman"/>
                <a:sym typeface="Times New Roman"/>
              </a:rPr>
              <a:t>Test metrics: Accuracy, Sensitivity, Specificity, AUC</a:t>
            </a:r>
            <a:endParaRPr b="1" sz="1346" cap="non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1635450" y="293800"/>
            <a:ext cx="58731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Before Longer Phase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351" y="943599"/>
            <a:ext cx="6616576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350" y="2356175"/>
            <a:ext cx="6616576" cy="1650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1635450" y="293800"/>
            <a:ext cx="58731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</a:t>
            </a: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Longer Phase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7450" y="943600"/>
            <a:ext cx="4718301" cy="15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9340" y="2509563"/>
            <a:ext cx="5974309" cy="15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5350" y="4158550"/>
            <a:ext cx="31623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Mobile</a:t>
            </a:r>
            <a:r>
              <a:rPr lang="en-US" sz="2600"/>
              <a:t> App Refinements</a:t>
            </a:r>
            <a:endParaRPr sz="2600"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-US" sz="1205" cap="none">
                <a:latin typeface="Arial"/>
                <a:ea typeface="Arial"/>
                <a:cs typeface="Arial"/>
                <a:sym typeface="Arial"/>
              </a:rPr>
              <a:t>Inference workflow</a:t>
            </a:r>
            <a:br>
              <a:rPr b="1" lang="en-US" sz="1205" cap="none">
                <a:latin typeface="Arial"/>
                <a:ea typeface="Arial"/>
                <a:cs typeface="Arial"/>
                <a:sym typeface="Arial"/>
              </a:rPr>
            </a:br>
            <a:endParaRPr b="1"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Run preprocessing + inference off the UI thread to prevent freezes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Load the model once and reuse the interpreter and buffers each scan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Eliminate redundant image conversions and repeated allocations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Avoid unnecessary disk I/O by keeping capture data in memory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-US" sz="1205" cap="none">
                <a:latin typeface="Arial"/>
                <a:ea typeface="Arial"/>
                <a:cs typeface="Arial"/>
                <a:sym typeface="Arial"/>
              </a:rPr>
              <a:t>Streamlined preprocessing</a:t>
            </a:r>
            <a:br>
              <a:rPr b="1" lang="en-US" sz="1205" cap="none">
                <a:latin typeface="Arial"/>
                <a:ea typeface="Arial"/>
                <a:cs typeface="Arial"/>
                <a:sym typeface="Arial"/>
              </a:rPr>
            </a:br>
            <a:endParaRPr b="1"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Resize/crop a single time to the model input size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Normalize in one pass while building the input tensor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Keep preprocessing consistent with training to avoid extra fix-up steps</a:t>
            </a:r>
            <a:endParaRPr sz="82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-US" sz="2600"/>
              <a:t>Mobile App Refinements Cont.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-US" sz="1205" cap="none">
                <a:latin typeface="Arial"/>
                <a:ea typeface="Arial"/>
                <a:cs typeface="Arial"/>
                <a:sym typeface="Arial"/>
              </a:rPr>
              <a:t>Efficient UI + state handling</a:t>
            </a:r>
            <a:br>
              <a:rPr b="1" lang="en-US" sz="1205" cap="none">
                <a:latin typeface="Arial"/>
                <a:ea typeface="Arial"/>
                <a:cs typeface="Arial"/>
                <a:sym typeface="Arial"/>
              </a:rPr>
            </a:br>
            <a:endParaRPr b="1"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Use a clear state flow (idle → processing → result) to prevent duplicate runs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Disable/debounce scan actions during processing</a:t>
            </a:r>
            <a:br>
              <a:rPr lang="en-US" sz="1205" cap="none">
                <a:latin typeface="Arial"/>
                <a:ea typeface="Arial"/>
                <a:cs typeface="Arial"/>
                <a:sym typeface="Arial"/>
              </a:rPr>
            </a:b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5"/>
              <a:buChar char="●"/>
            </a:pPr>
            <a:r>
              <a:rPr lang="en-US" sz="1205" cap="none">
                <a:latin typeface="Arial"/>
                <a:ea typeface="Arial"/>
                <a:cs typeface="Arial"/>
                <a:sym typeface="Arial"/>
              </a:rPr>
              <a:t>Minimize re-renders and update UI only when loading starts and results arrive</a:t>
            </a:r>
            <a:endParaRPr sz="1205" cap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82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 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8" title="Mobile App Demo 1/23/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088" y="1247725"/>
            <a:ext cx="6925822" cy="3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2311500" y="419625"/>
            <a:ext cx="4521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Milestone 5 Task Matrix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0" name="Google Shape;190;p29" title="Screenshot 2026-02-23 at 8.48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825"/>
            <a:ext cx="8839202" cy="3447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ctrTitle"/>
          </p:nvPr>
        </p:nvSpPr>
        <p:spPr>
          <a:xfrm>
            <a:off x="1313188" y="935850"/>
            <a:ext cx="65073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196" name="Google Shape;196;p30"/>
          <p:cNvSpPr txBox="1"/>
          <p:nvPr>
            <p:ph idx="1" type="subTitle"/>
          </p:nvPr>
        </p:nvSpPr>
        <p:spPr>
          <a:xfrm>
            <a:off x="1313271" y="2745300"/>
            <a:ext cx="6507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/>
              <a:t>Any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